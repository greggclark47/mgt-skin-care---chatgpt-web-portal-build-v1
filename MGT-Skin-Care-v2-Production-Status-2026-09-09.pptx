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a87d4f6feb41f7" /><Relationship Type="http://schemas.openxmlformats.org/officeDocument/2006/relationships/extended-properties" Target="/docProps/app.xml" Id="Rad2afe7218774bef" /><Relationship Type="http://schemas.openxmlformats.org/officeDocument/2006/relationships/officeDocument" Target="/ppt/presentation.xml" Id="R3e53cf6802a748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3bc1bcf0be4d58"/>
  </p:sldMasterIdLst>
  <p:notesMasterIdLst>
    <p:notesMasterId xmlns:r="http://schemas.openxmlformats.org/officeDocument/2006/relationships" r:id="Rfda6114dd3da4acd"/>
  </p:notesMasterIdLst>
  <p:sldIdLst>
    <p:sldId xmlns:r="http://schemas.openxmlformats.org/officeDocument/2006/relationships" id="256" r:id="Rb24b63f7e75b4029"/>
    <p:sldId xmlns:r="http://schemas.openxmlformats.org/officeDocument/2006/relationships" id="257" r:id="R4ca1baac700346f3"/>
    <p:sldId xmlns:r="http://schemas.openxmlformats.org/officeDocument/2006/relationships" id="258" r:id="Rfc7daccb20f642ab"/>
    <p:sldId xmlns:r="http://schemas.openxmlformats.org/officeDocument/2006/relationships" id="259" r:id="Rd3f87f3dd33d4a54"/>
    <p:sldId xmlns:r="http://schemas.openxmlformats.org/officeDocument/2006/relationships" id="260" r:id="R008dc19e0cfd4428"/>
    <p:sldId xmlns:r="http://schemas.openxmlformats.org/officeDocument/2006/relationships" id="261" r:id="Rb5e835cd6a3843ab"/>
    <p:sldId xmlns:r="http://schemas.openxmlformats.org/officeDocument/2006/relationships" id="262" r:id="R9e437514bd694900"/>
    <p:sldId xmlns:r="http://schemas.openxmlformats.org/officeDocument/2006/relationships" id="263" r:id="R0582c73c218d4d93"/>
    <p:sldId xmlns:r="http://schemas.openxmlformats.org/officeDocument/2006/relationships" id="264" r:id="R54f3e03d01ed4a94"/>
    <p:sldId xmlns:r="http://schemas.openxmlformats.org/officeDocument/2006/relationships" id="265" r:id="R31a0b35e63dc44b5"/>
    <p:sldId xmlns:r="http://schemas.openxmlformats.org/officeDocument/2006/relationships" id="266" r:id="R078a41f8a9d04946"/>
    <p:sldId xmlns:r="http://schemas.openxmlformats.org/officeDocument/2006/relationships" id="267" r:id="R893bf30f7fb14028"/>
    <p:sldId xmlns:r="http://schemas.openxmlformats.org/officeDocument/2006/relationships" id="268" r:id="Rded35d02f39f4eed"/>
    <p:sldId xmlns:r="http://schemas.openxmlformats.org/officeDocument/2006/relationships" id="269" r:id="R1d9c4832e68f4e1c"/>
    <p:sldId xmlns:r="http://schemas.openxmlformats.org/officeDocument/2006/relationships" id="270" r:id="R5151533a19e34f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6bf6617f24be5" /><Relationship Type="http://schemas.openxmlformats.org/officeDocument/2006/relationships/slideMaster" Target="/ppt/slideMasters/slideMaster1.xml" Id="Re43bc1bcf0be4d58" /><Relationship Type="http://schemas.openxmlformats.org/officeDocument/2006/relationships/notesMaster" Target="/ppt/notesMasters/notesMaster1.xml" Id="Rfda6114dd3da4acd" /><Relationship Type="http://schemas.openxmlformats.org/officeDocument/2006/relationships/presProps" Target="/ppt/presProps.xml" Id="R34f025a848354a6f" /><Relationship Type="http://schemas.openxmlformats.org/officeDocument/2006/relationships/tableStyles" Target="/ppt/tableStyles.xml" Id="R09c65f4f9f31487e" /><Relationship Type="http://schemas.openxmlformats.org/officeDocument/2006/relationships/slide" Target="/ppt/slides/slide1.xml" Id="Rb24b63f7e75b4029" /><Relationship Type="http://schemas.openxmlformats.org/officeDocument/2006/relationships/slide" Target="/ppt/slides/slide2.xml" Id="R4ca1baac700346f3" /><Relationship Type="http://schemas.openxmlformats.org/officeDocument/2006/relationships/slide" Target="/ppt/slides/slide3.xml" Id="Rfc7daccb20f642ab" /><Relationship Type="http://schemas.openxmlformats.org/officeDocument/2006/relationships/slide" Target="/ppt/slides/slide4.xml" Id="Rd3f87f3dd33d4a54" /><Relationship Type="http://schemas.openxmlformats.org/officeDocument/2006/relationships/slide" Target="/ppt/slides/slide5.xml" Id="R008dc19e0cfd4428" /><Relationship Type="http://schemas.openxmlformats.org/officeDocument/2006/relationships/slide" Target="/ppt/slides/slide6.xml" Id="Rb5e835cd6a3843ab" /><Relationship Type="http://schemas.openxmlformats.org/officeDocument/2006/relationships/slide" Target="/ppt/slides/slide7.xml" Id="R9e437514bd694900" /><Relationship Type="http://schemas.openxmlformats.org/officeDocument/2006/relationships/slide" Target="/ppt/slides/slide8.xml" Id="R0582c73c218d4d93" /><Relationship Type="http://schemas.openxmlformats.org/officeDocument/2006/relationships/slide" Target="/ppt/slides/slide9.xml" Id="R54f3e03d01ed4a94" /><Relationship Type="http://schemas.openxmlformats.org/officeDocument/2006/relationships/slide" Target="/ppt/slides/slide10.xml" Id="R31a0b35e63dc44b5" /><Relationship Type="http://schemas.openxmlformats.org/officeDocument/2006/relationships/slide" Target="/ppt/slides/slide11.xml" Id="R078a41f8a9d04946" /><Relationship Type="http://schemas.openxmlformats.org/officeDocument/2006/relationships/slide" Target="/ppt/slides/slide12.xml" Id="R893bf30f7fb14028" /><Relationship Type="http://schemas.openxmlformats.org/officeDocument/2006/relationships/slide" Target="/ppt/slides/slide13.xml" Id="Rded35d02f39f4eed" /><Relationship Type="http://schemas.openxmlformats.org/officeDocument/2006/relationships/slide" Target="/ppt/slides/slide14.xml" Id="R1d9c4832e68f4e1c" /><Relationship Type="http://schemas.openxmlformats.org/officeDocument/2006/relationships/slide" Target="/ppt/slides/slide15.xml" Id="R5151533a19e3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555a76a85a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8bb154701481c" /><Relationship Type="http://schemas.openxmlformats.org/officeDocument/2006/relationships/notesMaster" Target="/ppt/notesMasters/notesMaster1.xml" Id="R4f8561b38f5d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9e56d207184461" /><Relationship Type="http://schemas.openxmlformats.org/officeDocument/2006/relationships/notesMaster" Target="/ppt/notesMasters/notesMaster1.xml" Id="Rea26414d527347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c4c331735545bf" /><Relationship Type="http://schemas.openxmlformats.org/officeDocument/2006/relationships/notesMaster" Target="/ppt/notesMasters/notesMaster1.xml" Id="Rf8c15a27148e43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6662406f149b3" /><Relationship Type="http://schemas.openxmlformats.org/officeDocument/2006/relationships/notesMaster" Target="/ppt/notesMasters/notesMaster1.xml" Id="R8570575234e545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8b9ed1be974a78" /><Relationship Type="http://schemas.openxmlformats.org/officeDocument/2006/relationships/notesMaster" Target="/ppt/notesMasters/notesMaster1.xml" Id="Rb35d5adba5a04b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48796b863243ce" /><Relationship Type="http://schemas.openxmlformats.org/officeDocument/2006/relationships/notesMaster" Target="/ppt/notesMasters/notesMaster1.xml" Id="R65862ba75ab849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797d830b764443" /><Relationship Type="http://schemas.openxmlformats.org/officeDocument/2006/relationships/notesMaster" Target="/ppt/notesMasters/notesMaster1.xml" Id="Re604c1d7e6ff4a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69500ffe644898" /><Relationship Type="http://schemas.openxmlformats.org/officeDocument/2006/relationships/notesMaster" Target="/ppt/notesMasters/notesMaster1.xml" Id="R7301b338e66e4f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ba2cf627264cf8" /><Relationship Type="http://schemas.openxmlformats.org/officeDocument/2006/relationships/notesMaster" Target="/ppt/notesMasters/notesMaster1.xml" Id="R2e45fbfb2ebd40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ded37e944e4f6f" /><Relationship Type="http://schemas.openxmlformats.org/officeDocument/2006/relationships/notesMaster" Target="/ppt/notesMasters/notesMaster1.xml" Id="R4f3cead7119143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47988085614ae2" /><Relationship Type="http://schemas.openxmlformats.org/officeDocument/2006/relationships/notesMaster" Target="/ppt/notesMasters/notesMaster1.xml" Id="Re4f0fae4b78848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c18513ccae4fc3" /><Relationship Type="http://schemas.openxmlformats.org/officeDocument/2006/relationships/notesMaster" Target="/ppt/notesMasters/notesMaster1.xml" Id="R7b3f0f9ccfa448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0e7d02d7be47c1" /><Relationship Type="http://schemas.openxmlformats.org/officeDocument/2006/relationships/notesMaster" Target="/ppt/notesMasters/notesMaster1.xml" Id="R47c78a6643334f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3ac5b90b5d480f" /><Relationship Type="http://schemas.openxmlformats.org/officeDocument/2006/relationships/notesMaster" Target="/ppt/notesMasters/notesMaster1.xml" Id="Red9ccd4861bc4d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e6c38a6c954aef" /><Relationship Type="http://schemas.openxmlformats.org/officeDocument/2006/relationships/notesMaster" Target="/ppt/notesMasters/notesMaster1.xml" Id="R0cb2ddd417db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 of local source and tests, September 8–9, 2026. Sites get_site: current_live_url=null, latest_version_number=0. Timeline is an engineering estimate, not a deployment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work/release-verification.log, CURRENT-SCOPE.md, infra/portal/README.md, Sites project appgprj_6a9cb9f6a1e08191af5409cd113f054c. Dates are derived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apps/api/src/portal/retailers.ts, style.ts, server.ts, catalog.ts; apps/web/src/components/RetailerDirectory.tsx, RetailerComparison.tsx, BeautyStudio.tsx. Retailer directory presence is not a partnership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Changed apps/api/src/portal/server.ts /admin and apps/web/src/components/ConnectedAdmin.tsx. Added apps/api/test/admin-access.cjs: seven role combinations, guest/customer denial, filtering, forged headers, denied writes, live revocation. Local test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apps/api/src/portal/security.ts, server.ts, store.ts, portal.cjs, admin-access.cjs. Production startup rejects SQLite, demo mode and HTTP public origins. This audit is not a penetration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server.ts /account/export and /account/deletion-request (30-day not_before), style.ts /style-profile/remove, store.ts and infra/portal/README.md. No automated retention/deletion/backup jobs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apps/api/src/portal/ai.ts, catalog.ts, server.ts; test/coach.cjs; packages/domain/src/__smoke__/pipeline.ts. GET /api/hub/session during this audit: ai_configured=false, demo=false. No live provider assessment was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apps/api/src/portal/billing.ts, test/billing.cjs, infra/portal/README.md, apps/mobile. Stripe tests use a mock client with real signature validation, not a live Stripe account. Product purchases stay at external retailers.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.openai/hosting.json, Sites get_site, infra/portal/Dockerfile.api, Dockerfile.web, compose.yaml, .dockerignore, BUILD-CHECKPOINTS.md. Existing public GitHub repository stores source ZIPs. No container build performed; Docker/psql executables were unavailable on this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pnpm verify:release. Evidence: work/release-verification.log. Rendering suites include earlier components and do not establish full current-page browser coverage. Local HTTP /shop and proxied /api/hub/retailers returned 200; /readyz returned ok, storage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Derived backlog from CURRENT-SCOPE.md, infra/portal/README.md, current code inspection and audit results. Named owners and credentials have not been assigned by the user. Legal/policy readiness is a project gate, not legal advice.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planning estimate, not a promise. Assumes credentials/domain available in week 1, decisions within two business days, no major redesign, web referral scope, AI/billing disabled unless separately accepted. Delayed dependencies move the calendar. Four to six weeks from Sep 9 yields Oct 7–21.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launch acceptance criteria from audit findings. Browser accessibility, keyboard use, responsive layouts and error states belong in QA. These acceptance outcomes have not yet been completed.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Estimate assumes no architecture redesign or direct product commerce. Additional AI/billing validation range is a planning estimate and cannot be scheduled until provider configuration, prices/benefits and approved content are ready. No purchasing, live billing activation or production deployment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Detailed evidence and timeline assumptions are preserved in PRODUCTION-STATUS-2026-09-09.md. Latest pre-audit local commit b90d6b2; this checkpoint adds admin filtering and release verification. GitHub source ZIPs are backups, not executable CI source checkouts.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eb3fd2be140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7e96de875f4e2c" /><Relationship Type="http://schemas.openxmlformats.org/officeDocument/2006/relationships/slideLayout" Target="/ppt/slideLayouts/slideLayout1.xml" Id="R73aed7c3a70641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aed7c3a70641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36c855e074dde" /><Relationship Type="http://schemas.openxmlformats.org/officeDocument/2006/relationships/notesSlide" Target="/ppt/notesSlides/notesSlide1.xml" Id="Rb622ad3597004f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ccdd44da34e90" /><Relationship Type="http://schemas.openxmlformats.org/officeDocument/2006/relationships/notesSlide" Target="/ppt/notesSlides/notesSlide2.xml" Id="Ra8f303c8ced5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a80a260f4347" /><Relationship Type="http://schemas.openxmlformats.org/officeDocument/2006/relationships/notesSlide" Target="/ppt/notesSlides/notesSlide3.xml" Id="Ree6c7cab924546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c42d6ee104427" /><Relationship Type="http://schemas.openxmlformats.org/officeDocument/2006/relationships/notesSlide" Target="/ppt/notesSlides/notesSlide4.xml" Id="R5c44feb69a64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9499d091e4224" /><Relationship Type="http://schemas.openxmlformats.org/officeDocument/2006/relationships/notesSlide" Target="/ppt/notesSlides/notesSlide5.xml" Id="Rab160b24face4a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daac020354d19" /><Relationship Type="http://schemas.openxmlformats.org/officeDocument/2006/relationships/notesSlide" Target="/ppt/notesSlides/notesSlide6.xml" Id="R0497c55968714d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92ef26bb542ac" /><Relationship Type="http://schemas.openxmlformats.org/officeDocument/2006/relationships/notesSlide" Target="/ppt/notesSlides/notesSlide7.xml" Id="Rd7b412bd439442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da4a420c54777" /><Relationship Type="http://schemas.openxmlformats.org/officeDocument/2006/relationships/notesSlide" Target="/ppt/notesSlides/notesSlide8.xml" Id="Rccb988120c2d48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5d6cda1b649e0" /><Relationship Type="http://schemas.openxmlformats.org/officeDocument/2006/relationships/notesSlide" Target="/ppt/notesSlides/notesSlide9.xml" Id="R1fddbc4931e94a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18fc87c7149d5" /><Relationship Type="http://schemas.openxmlformats.org/officeDocument/2006/relationships/notesSlide" Target="/ppt/notesSlides/notesSlide10.xml" Id="R99405a6821e046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6e07354fc44cb" /><Relationship Type="http://schemas.openxmlformats.org/officeDocument/2006/relationships/notesSlide" Target="/ppt/notesSlides/notesSlide11.xml" Id="Rdf7febb1c4404a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6ac47569846d4" /><Relationship Type="http://schemas.openxmlformats.org/officeDocument/2006/relationships/notesSlide" Target="/ppt/notesSlides/notesSlide12.xml" Id="R1b122d88b2a14d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2cef787344b9b" /><Relationship Type="http://schemas.openxmlformats.org/officeDocument/2006/relationships/notesSlide" Target="/ppt/notesSlides/notesSlide13.xml" Id="Re535f1a4d2cf46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15a80ba8c4657" /><Relationship Type="http://schemas.openxmlformats.org/officeDocument/2006/relationships/notesSlide" Target="/ppt/notesSlides/notesSlide14.xml" Id="Rb711c0eb45fb4f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a4bd1fede41cc" /><Relationship Type="http://schemas.openxmlformats.org/officeDocument/2006/relationships/notesSlide" Target="/ppt/notesSlides/notesSlide15.xml" Id="Rc105ec365f1747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AC559-BBF8-4EFF-BACB-55253181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MGT  /  BUILD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CAED1-210D-4499-B41E-91944BB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4950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MGT Skin Care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D7F8-50D3-42FD-B400-A8588327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Build status and production launch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9EB3-32DC-45EC-B091-E8A2162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00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Local build validated.</a:t>
            </a:r>
          </a:p>
          <a:p xmlns:a="http://schemas.openxmlformats.org/drawingml/2006/main">
            <a:pPr>
              <a:defRPr sz="27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7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Production release still gated.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ED430-5568-4282-9DFC-40B919B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September 9, 2026  •  Planning estimate: 4–6 weeks for a referral-portal launch</a:t>
            </a:r>
          </a:p>
        </p:txBody>
      </p:sp>
    </p:spTree>
    <p:extLst>
      <p:ext uri="{BB962C8B-B14F-4D97-AF65-F5344CB8AC3E}">
        <p14:creationId xmlns:p14="http://schemas.microsoft.com/office/powerpoint/2010/main" val="231222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46A6D-4248-48DC-9876-3F1329BB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Release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3BED4-1CE9-4025-89C1-ACE14DDA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A functional local preview with unresolved production dependencies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position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Release implication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Frontend and API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Local builds and suites pass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Connected workflows are ready for staging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validation.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services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No published Sites version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Hosting, PostgreSQL and live sign-in need setup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and testing.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Content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and privacy gaps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Launch needs reviewed content, policies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owners.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Shipping estimate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4–6 weeks, conditional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Target Oct 7–21 if dedicated work starts Sep 9.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02D90-577D-4753-B8C8-8362066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857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2B1F-4A51-4EA6-B58E-1E8953C8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Customer journeys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A9C07-445B-4E1B-95CC-75B6EC8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The existing dark theme, violet accents and page structure are preserved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Journey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Implemented locally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Limits at launch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Shop and Saved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11 retailers, 7 segments,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compare 3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Download, restore links and save shortlist.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Retailers own price and stock.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Beauty &amp; Style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Six preference-based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sections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Save, remove and detect stale edits. No photo or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live AI assessment.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Skin Match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Routine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Profile, exclusions and rules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matching needs approved product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ingredient records.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Account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Export, requests and admin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replies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Sign-in needs live validation. Replies stay within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the portal.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C08D4-7351-42EF-BF50-C582EB32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76531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EC102-B975-43AD-86B8-290B29CF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This build closes an admin access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04005-A135-495A-873D-DF6C9DBE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Content review roles no longer receive customer operations records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Content records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records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Guest / customer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Admin access denied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Admin access denied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Viewer / editor /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SME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Products, rules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knowledge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Support, orders, jobs, audit and deletion requests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withheld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Compliance /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superadmin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Products, rules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knowledge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access retained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Role revoked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Rechecked on the next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request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Existing session immediately loses operations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access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A85C7-5D28-4F0B-A0F5-DAE7954F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The admin screen now explains restricted access. Tests cover forged headers and denied writes.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17985-761E-4D1B-B8DC-AEA9CE33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781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6E271-A3C9-4723-8CF2-93F26F36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Backend and security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D7703-7BE7-46B1-8DF4-F69E8E7B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Core protections exist, but the production environment is unproven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BEE046-68CB-4F77-92DC-F572E39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3C4FE-5DB7-4CB4-8599-AC4265D7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Cookie sessions, CSRF and origin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Server-side roles and record ownership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Referral-only gates block legacy product checkout, refunds and payouts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379A2-2382-4E2A-91A8-914C17F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A0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05E"/>
                </a:solidFill>
                <a:latin typeface="Segoe UI"/>
                <a:ea typeface="Segoe UI"/>
                <a:cs typeface="Segoe UI"/>
              </a:rPr>
              <a:t>Still required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4A458-0931-4430-AE78-FDC9BF0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Live email sign-in and session lifecycle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Production PostgreSQL integration and load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Security review, dependency review and verified operational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4109F-774F-47D3-AA8E-E9BD6AE0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22784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BE182-3A74-48C0-B073-DF7CE141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Data and privacy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DA052-2671-4F52-9E50-4CDCFC9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Storage and consent flows are connected; lifecycle operations remain incomplete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state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Required before release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SQLite locally, PostgreSQL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adapter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Exercise production database, migrations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concurrency.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User controls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Consent, export and style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removal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Validate real account ownership and supported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deletion scope.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Account deletion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Request is stored as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pending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Implement and test execution, retention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provider cleanup.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Recovery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Deployment notes describe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backups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Install backup jobs and prove restore plus rollback.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14833-EC0A-4A3E-96AD-77C7F037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5856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0182C-3655-47F7-B54F-CC0E053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AI, matching and editorial content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541DB-D64E-4EF6-A937-5DD3EBE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These capabilities require approved inputs as well as working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5247D-65DD-4A1D-9BF0-1BDD637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Implemented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D22B2-3279-4544-A87D-91388C42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Coach selects reviewed library excerpts and rejects unsupported quotations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Matching rules and sample pipeline have local coverage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Editorial drafting and second-reviewer approval routes exist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A60D-54A3-43B6-BE33-D2A0F72C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A0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05E"/>
                </a:solidFill>
                <a:latin typeface="Segoe UI"/>
                <a:ea typeface="Segoe UI"/>
                <a:cs typeface="Segoe UI"/>
              </a:rPr>
              <a:t>Release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A3BF4-2A6F-43A2-84ED-89D291B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Approve real product, ingredient and knowledge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Configure and test live providers, timeouts and failure states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Review actual responses for safety and usefulness before enabling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0894E-DC8D-4238-B5CA-6A3EBF28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The running preview reports AI unconfigured. Unready features need explicit disabled or unavailable states.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52107-CC67-44A1-8030-BEBC1BD8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3201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314E0-809C-4DFD-A4B2-6691B13F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Subscriptions and excluded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59B8-F949-4E38-A4B9-68EC0C8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Billing is optional for the first referral-portal release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Prepared in code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Remaining / excluded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Consumer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vendor plans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Separate audiences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billing records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Prices, benefits, terms and live Stripe setup remain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pending.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Trial and billing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cycles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14-day trial, monthly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annual paths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Verify trial-to-paid, renewals and cancellation in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Stripe sandbox.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Payment safeguards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Signed events and mocked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lifecycle tests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Live reconciliation, recovery and operational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monitoring needed.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 commerce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/ mobile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Commerce blocked. Mobile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scaffold only.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No direct checkout or app-store release in this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launch estimate.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6A7BF-A87A-4FD0-B830-8E726FF3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1375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04DB6-123B-48FF-AA4D-B49F2D65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Hosting and source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DDC93-E484-4BB2-A6F1-333D5B3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Source backups exist. Production deployment and release automation are pending.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Next requirement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Sites publication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No live URL, version count 0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and validate a compatible production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runtime.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Deployment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scaffold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Next.js, Express,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PostgreSQL, Caddy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Container build, HTTPS, secrets and staging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exercise.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GitHub saving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Full source ZIP checkpoints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Publish an extracted source tree before CI can run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on source.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Google Drive saving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Snapshot archive folder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established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Continue versioned source and report backups.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D8B54-728A-4514-A830-CDEBE608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This build corrects the API image’s missing build-script reference and excludes more local caches.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27E1C-54B5-4FFF-A05B-DFF38BF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1889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95F65-2C91-4C71-89EE-20513F5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Validation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958DC-1843-454E-BC96-CF618E35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One release-check command now runs the complete local verification set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Check group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Evidence boundary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Build and types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5 passed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Domain, shared, AI gateway types, API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web build.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API suites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5 passed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Referral, billing, coach, style and new admin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access coverage.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Domain / gateway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suites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3 passed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Rules pipeline, mocked provider routing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pricing logic.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Web suites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4 passed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Rendering, admin rendering, shop links and client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recovery.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492EB-D923-4E36-BB80-8997921A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Local HTTP checks also pass. Browser E2E, live services, containers and production load remain unverified.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CD15B-998D-4094-A410-3394936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96038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96BF6-E9C3-4F81-8429-DEE52243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Launch blockers and accountable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244B1-5FDE-4332-9CF8-AD888209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Roles below are proposed responsibilities, not assigned people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Gate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Required outcome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Accountable role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Source and hosting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Source checkout, staging,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HTTPS and secrets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Engineering + operations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Accounts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privacy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Live sign-in, deletion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retention execution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Engineering + privacy reviewer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Content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Approved data, company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identity and policies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Product owner + editorial reviewer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Quality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recovery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Browser QA, restore test,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monitoring and pilot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QA + operations + product owner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A422B-CD1E-4210-9333-DE1D958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Billing and AI have additional gates if included in the launch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28FC5-E36C-49F0-8028-78E03DF5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09515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97074-BCD5-41C6-A879-EEEEF43C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Production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5F54A-297A-4573-BCDA-5AE81AAD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Illustrative schedule from September 9, subject to the gates being met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924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52675"/>
                <a:gridCol w="3143250"/>
                <a:gridCol w="5324475"/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Window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Work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C39BFF"/>
                          </a:solidFill>
                          <a:latin typeface="Segoe UI"/>
                          <a:ea typeface="Segoe UI"/>
                          <a:cs typeface="Segoe UI"/>
                        </a:rPr>
                        <a:t>Exit evidence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Week 1 • Sep 9–15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Freeze scope, source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checkout, staging setup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Hosted staging plan and accountable owners.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Week 2 • Sep 16–22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Auth, privacy jobs, data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policy review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Live account journey and deletion demonstration.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Weeks 3–4 • Sep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23–Oct 6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Integration, browser QA,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recovery and pilot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Acceptance journeys and restore exercise pass.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Weeks 5–6 • Oct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7–21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Resolve pilot issues and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release gradually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Go/no-go approval, monitoring and rollback</a:t>
                      </a:r>
                    </a:p>
                    <a:p>
                      <a:r>
                        <a:rPr sz="1725" b="0">
                          <a:solidFill>
                            <a:srgbClr val="F6F4F9"/>
                          </a:solidFill>
                          <a:latin typeface="Segoe UI"/>
                          <a:ea typeface="Segoe UI"/>
                          <a:cs typeface="Segoe UI"/>
                        </a:rPr>
                        <a:t>ready.</a:t>
                      </a:r>
                    </a:p>
                  </a:txBody>
                  <a:tcPr marL="91440" marR="91440" marT="45720" marB="45720">
                    <a:solidFill>
                      <a:srgbClr val="09090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08D90-6EDF-4922-8261-5CAEA94F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Assumes one dedicated full-stack engineer plus part-time QA/operations and prompt owner reviews.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400BA-60CA-49F0-8255-147015B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9162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3615F-DAAB-46AA-9C11-3675D50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Production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D232F-18E8-4B43-94D2-AC4514F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Passing local tests is one gate in the release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AB249-E21C-4568-8B32-A262FAC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Customer and privacy acceptance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B88BF-6703-41DF-837F-6BA3907F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Shop → compare → save → restore works on desktop and mobile browsers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Real sign-in, logout and account isolation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Export, deletion and retention are demonstrated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9A18F-3051-4F82-9203-DB057E67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A0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05E"/>
                </a:solidFill>
                <a:latin typeface="Segoe UI"/>
                <a:ea typeface="Segoe UI"/>
                <a:cs typeface="Segoe UI"/>
              </a:rPr>
              <a:t>Operational acceptance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2B1A3-C5DD-4E95-9215-6D0B4A1C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Production database and HTTPS staging are verified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Backups restore successfully and rollback is rehearsed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Monitoring, support ownership and a small-user pilot are 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FED1E-8B49-4FCB-A38D-4DFF5005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No unresolved critical security defects. AI or billing must pass their own live-service checks before activation.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EB501-4DB8-4943-ACAB-6602EF9C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919187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EE6B3-BBB3-44DE-9794-7C8DC7E8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Scope assumptions and next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A4F5-C3CA-4AFB-B092-B2C802EC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The schedule protects the referral-portal scope already established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6B6BF-0E8C-4F5D-8137-C7ECA48B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Next engineering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1FDF9-AFAB-4C14-9038-76E58F8F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Set up a real source checkout and staging release process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Implement account deletion and retention execution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Validate PostgreSQL, live email sign-in and browser journeys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33BA8-D151-410C-9890-80675765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A0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05E"/>
                </a:solidFill>
                <a:latin typeface="Segoe UI"/>
                <a:ea typeface="Segoe UI"/>
                <a:cs typeface="Segoe UI"/>
              </a:rPr>
              <a:t>Owner 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BB043-032B-4DF8-8B39-E79A8D8D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Confirm launch audience, domain and support owner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Approve company identity, policies and content reviewers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Decide whether AI and subscriptions join the first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13C05-1967-498F-BD68-56053D09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Including live AI and billing adds an estimated 2–4 weeks after their inputs are ready. Mobile and direct commerce need separate plans.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D211B-2C0D-42CF-AAA2-BAF0AC0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59642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9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0B87F-CFBB-4A51-8DB3-827013FC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Audit sources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56A16-C5AB-4026-8413-76133E1A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Status is grounded in the current local build, not a completion percentage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EF33F-4825-4C32-ADF6-1798A684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9B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C39BFF"/>
                </a:solidFill>
                <a:latin typeface="Segoe UI"/>
                <a:ea typeface="Segoe UI"/>
                <a:cs typeface="Segoe UI"/>
              </a:rPr>
              <a:t>Primary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E2AE1-A0C5-453D-A874-BF8F1B46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Source: API portal, web components, domain and gateway packages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Deployment: infra/portal and .openai/hosting.json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Checks: pnpm verify:release and local HTTP responses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F167A-71CF-4A57-9EF5-5A3137F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2882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A05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05E"/>
                </a:solidFill>
                <a:latin typeface="Segoe UI"/>
                <a:ea typeface="Segoe UI"/>
                <a:cs typeface="Segoe UI"/>
              </a:rPr>
              <a:t>What this review does not 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F7719-83AF-4028-8DE6-EAFF75B6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50482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No live Supabase, Stripe or AI provider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No production PostgreSQL, container, load or full browser E2E run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6F4F9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6F4F9"/>
                </a:solidFill>
                <a:latin typeface="Segoe UI"/>
                <a:ea typeface="Segoe UI"/>
                <a:cs typeface="Segoe UI"/>
              </a:rPr>
              <a:t>No published production version or operational recovery 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ACA5B-A701-4569-A994-6C2CE1F8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239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Detailed status, risks and the launch plan accompany the source checkpoint. Audit completed September 9,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60900-4619-484E-8342-C41C5BE0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15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B1C6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B9B1C6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88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2026-09-09T04:06:00.0510000Z</dcterms:created>
  <dcterms:modified xsi:type="dcterms:W3CDTF">2026-09-09T04:06:00.0510000Z</dcterms:modified>
</coreProperties>
</file>